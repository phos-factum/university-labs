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_rels/theme1.xml.rels" ContentType="application/vnd.openxmlformats-package.relationshi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10.png" ContentType="image/png"/>
  <Override PartName="/ppt/media/image14.png" ContentType="image/png"/>
  <Override PartName="/ppt/media/image5.png" ContentType="image/png"/>
  <Override PartName="/ppt/media/image8.jpeg" ContentType="image/jpeg"/>
  <Override PartName="/ppt/media/image7.png" ContentType="image/png"/>
  <Override PartName="/ppt/media/image11.png" ContentType="image/png"/>
  <Override PartName="/ppt/media/image2.png" ContentType="image/png"/>
  <Override PartName="/ppt/media/image9.png" ContentType="image/png"/>
  <Override PartName="/ppt/media/image13.png" ContentType="image/png"/>
  <Override PartName="/ppt/media/image4.png" ContentType="image/png"/>
  <Override PartName="/ppt/media/image12.png" ContentType="image/png"/>
  <Override PartName="/ppt/media/image3.png" ContentType="image/png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pic>
        <p:nvPicPr>
          <p:cNvPr id="3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154880" y="1447920"/>
            <a:ext cx="8825400" cy="332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72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b="0" lang="en-US" sz="7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1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2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sldNum" idx="3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CB4C6447-C282-428D-976C-3CC11E259EC9}" type="slidenum">
              <a: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&lt;номер&gt;</a:t>
            </a:fld>
            <a:endParaRPr b="0" lang="ru-RU" sz="2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Для правки структуры щёлкните мышью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Второй уровень структуры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Третий уровень структуры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Четвёртый уровень структуры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Пятый уровень структуры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Шестой уровень структуры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Седьмой уровень структуры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анорамная фотография с подписью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pic>
        <p:nvPicPr>
          <p:cNvPr id="14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154880" y="4800600"/>
            <a:ext cx="882540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24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1154880" y="685800"/>
            <a:ext cx="8825400" cy="3640320"/>
          </a:xfrm>
          <a:prstGeom prst="rect">
            <a:avLst/>
          </a:prstGeom>
          <a:noFill/>
          <a:ln w="0">
            <a:noFill/>
          </a:ln>
          <a:effectLst>
            <a:outerShdw dist="50760" dir="5400000" blurRad="50760" rotWithShape="0">
              <a:srgbClr val="000000">
                <a:alpha val="43000"/>
              </a:srgbClr>
            </a:outerShdw>
          </a:effectLst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Вставка рисунка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1154880" y="5367240"/>
            <a:ext cx="8825400" cy="49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4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5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6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0BB849DC-AD55-497C-8E27-23CDA16FEB6C}" type="slidenum">
              <a: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&lt;номер&gt;</a:t>
            </a:fld>
            <a:endParaRPr b="0" lang="ru-RU" sz="2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подпись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pic>
        <p:nvPicPr>
          <p:cNvPr id="26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54880" y="1447920"/>
            <a:ext cx="8825400" cy="198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48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b="0" lang="en-US" sz="4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154880" y="3657600"/>
            <a:ext cx="8825400" cy="236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7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8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9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D3304188-60A2-4052-BA88-5BEEA9AA169A}" type="slidenum">
              <a: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&lt;номер&gt;</a:t>
            </a:fld>
            <a:endParaRPr b="0" lang="ru-RU" sz="2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Цитата с подписью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pic>
        <p:nvPicPr>
          <p:cNvPr id="37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574640" y="1447920"/>
            <a:ext cx="7998840" cy="232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48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b="0" lang="en-US" sz="4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1930320" y="3771000"/>
            <a:ext cx="7279200" cy="34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400" strike="noStrike" u="none" cap="small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1154880" y="4350600"/>
            <a:ext cx="8825400" cy="167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10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11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12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5DDBF075-7A7A-4F3F-9B87-8DC94F3A4271}" type="slidenum">
              <a: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&lt;номер&gt;</a:t>
            </a:fld>
            <a:endParaRPr b="0" lang="ru-RU" sz="2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46" name="TextBox 11"/>
          <p:cNvSpPr/>
          <p:nvPr/>
        </p:nvSpPr>
        <p:spPr>
          <a:xfrm>
            <a:off x="898200" y="971280"/>
            <a:ext cx="801720" cy="19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200" strike="noStrike" u="non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Arial"/>
              </a:rPr>
              <a:t>“</a:t>
            </a:r>
            <a:endParaRPr b="0" lang="ru-RU" sz="12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47" name="TextBox 14"/>
          <p:cNvSpPr/>
          <p:nvPr/>
        </p:nvSpPr>
        <p:spPr>
          <a:xfrm>
            <a:off x="9330480" y="2613960"/>
            <a:ext cx="801720" cy="19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200" strike="noStrike" u="non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Arial"/>
              </a:rPr>
              <a:t>”</a:t>
            </a:r>
            <a:endParaRPr b="0" lang="ru-RU" sz="122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арточка имени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pic>
        <p:nvPicPr>
          <p:cNvPr id="51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154880" y="3124080"/>
            <a:ext cx="8825400" cy="165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4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b="0" lang="en-US" sz="40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154880" y="4777560"/>
            <a:ext cx="8825400" cy="86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13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14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15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49A66F0B-73E3-4AB7-9C9A-FBB167D13E8C}" type="slidenum">
              <a: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&lt;номер&gt;</a:t>
            </a:fld>
            <a:endParaRPr b="0" lang="ru-RU" sz="2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ри колонки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pic>
        <p:nvPicPr>
          <p:cNvPr id="62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4280" cy="140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42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b="0" lang="en-US" sz="4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32880" y="1981080"/>
            <a:ext cx="294660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652320" y="2666880"/>
            <a:ext cx="2927160" cy="358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3883680" y="1981080"/>
            <a:ext cx="293580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body"/>
          </p:nvPr>
        </p:nvSpPr>
        <p:spPr>
          <a:xfrm>
            <a:off x="3873240" y="2666880"/>
            <a:ext cx="2946600" cy="358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body"/>
          </p:nvPr>
        </p:nvSpPr>
        <p:spPr>
          <a:xfrm>
            <a:off x="7124760" y="1981080"/>
            <a:ext cx="293184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71" name="PlaceHolder 7"/>
          <p:cNvSpPr>
            <a:spLocks noGrp="1"/>
          </p:cNvSpPr>
          <p:nvPr>
            <p:ph type="body"/>
          </p:nvPr>
        </p:nvSpPr>
        <p:spPr>
          <a:xfrm>
            <a:off x="7124760" y="2666880"/>
            <a:ext cx="2931840" cy="358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cxnSp>
        <p:nvCxnSpPr>
          <p:cNvPr id="72" name="Straight Connector 16"/>
          <p:cNvCxnSpPr/>
          <p:nvPr/>
        </p:nvCxnSpPr>
        <p:spPr>
          <a:xfrm>
            <a:off x="3726000" y="2133360"/>
            <a:ext cx="360" cy="3962880"/>
          </a:xfrm>
          <a:prstGeom prst="straightConnector1">
            <a:avLst/>
          </a:prstGeom>
          <a:ln cap="rnd" w="12700">
            <a:solidFill>
              <a:schemeClr val="lt2">
                <a:lumMod val="40000"/>
                <a:lumOff val="60000"/>
                <a:alpha val="40000"/>
              </a:schemeClr>
            </a:solidFill>
            <a:round/>
          </a:ln>
        </p:spPr>
      </p:cxnSp>
      <p:cxnSp>
        <p:nvCxnSpPr>
          <p:cNvPr id="73" name="Straight Connector 17"/>
          <p:cNvCxnSpPr/>
          <p:nvPr/>
        </p:nvCxnSpPr>
        <p:spPr>
          <a:xfrm>
            <a:off x="6962040" y="2133360"/>
            <a:ext cx="360" cy="3967200"/>
          </a:xfrm>
          <a:prstGeom prst="straightConnector1">
            <a:avLst/>
          </a:prstGeom>
          <a:ln cap="rnd" w="12700">
            <a:solidFill>
              <a:schemeClr val="lt2">
                <a:lumMod val="40000"/>
                <a:lumOff val="60000"/>
                <a:alpha val="40000"/>
              </a:schemeClr>
            </a:solidFill>
            <a:round/>
          </a:ln>
        </p:spPr>
      </p:cxnSp>
      <p:sp>
        <p:nvSpPr>
          <p:cNvPr id="74" name="PlaceHolder 8"/>
          <p:cNvSpPr>
            <a:spLocks noGrp="1"/>
          </p:cNvSpPr>
          <p:nvPr>
            <p:ph type="dt" idx="16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75" name="PlaceHolder 9"/>
          <p:cNvSpPr>
            <a:spLocks noGrp="1"/>
          </p:cNvSpPr>
          <p:nvPr>
            <p:ph type="ftr" idx="17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76" name="PlaceHolder 10"/>
          <p:cNvSpPr>
            <a:spLocks noGrp="1"/>
          </p:cNvSpPr>
          <p:nvPr>
            <p:ph type="sldNum" idx="18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8A160BCE-CB84-4E2F-8D18-A90AD51131DA}" type="slidenum">
              <a: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&lt;номер&gt;</a:t>
            </a:fld>
            <a:endParaRPr b="0" lang="ru-RU" sz="2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толбец с тремя рисунками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pic>
        <p:nvPicPr>
          <p:cNvPr id="80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4280" cy="140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42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b="0" lang="en-US" sz="4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52320" y="4250880"/>
            <a:ext cx="293976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652320" y="2209680"/>
            <a:ext cx="2939760" cy="1523520"/>
          </a:xfrm>
          <a:prstGeom prst="rect">
            <a:avLst/>
          </a:prstGeom>
          <a:noFill/>
          <a:ln w="0">
            <a:noFill/>
          </a:ln>
          <a:effectLst>
            <a:outerShdw dist="50760" dir="5400000" blurRad="50760" rotWithShape="0">
              <a:srgbClr val="000000">
                <a:alpha val="43000"/>
              </a:srgbClr>
            </a:outerShdw>
          </a:effectLst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Вставка рисунка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652320" y="4827240"/>
            <a:ext cx="2939760" cy="65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3889440" y="4250880"/>
            <a:ext cx="293004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body"/>
          </p:nvPr>
        </p:nvSpPr>
        <p:spPr>
          <a:xfrm>
            <a:off x="3889440" y="2209680"/>
            <a:ext cx="2930040" cy="1523520"/>
          </a:xfrm>
          <a:prstGeom prst="rect">
            <a:avLst/>
          </a:prstGeom>
          <a:noFill/>
          <a:ln w="0">
            <a:noFill/>
          </a:ln>
          <a:effectLst>
            <a:outerShdw dist="50760" dir="5400000" blurRad="50760" rotWithShape="0">
              <a:srgbClr val="000000">
                <a:alpha val="43000"/>
              </a:srgbClr>
            </a:outerShdw>
          </a:effectLst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Вставка рисунка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 type="body"/>
          </p:nvPr>
        </p:nvSpPr>
        <p:spPr>
          <a:xfrm>
            <a:off x="3888000" y="4827240"/>
            <a:ext cx="2934000" cy="65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90" name="PlaceHolder 8"/>
          <p:cNvSpPr>
            <a:spLocks noGrp="1"/>
          </p:cNvSpPr>
          <p:nvPr>
            <p:ph type="body"/>
          </p:nvPr>
        </p:nvSpPr>
        <p:spPr>
          <a:xfrm>
            <a:off x="7124760" y="4250880"/>
            <a:ext cx="293184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91" name="PlaceHolder 9"/>
          <p:cNvSpPr>
            <a:spLocks noGrp="1"/>
          </p:cNvSpPr>
          <p:nvPr>
            <p:ph type="body"/>
          </p:nvPr>
        </p:nvSpPr>
        <p:spPr>
          <a:xfrm>
            <a:off x="7124760" y="2209680"/>
            <a:ext cx="2931840" cy="1523520"/>
          </a:xfrm>
          <a:prstGeom prst="rect">
            <a:avLst/>
          </a:prstGeom>
          <a:noFill/>
          <a:ln w="0">
            <a:noFill/>
          </a:ln>
          <a:effectLst>
            <a:outerShdw dist="50760" dir="5400000" blurRad="50760" rotWithShape="0">
              <a:srgbClr val="000000">
                <a:alpha val="43000"/>
              </a:srgbClr>
            </a:outerShdw>
          </a:effectLst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Вставка рисунка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92" name="PlaceHolder 10"/>
          <p:cNvSpPr>
            <a:spLocks noGrp="1"/>
          </p:cNvSpPr>
          <p:nvPr>
            <p:ph type="body"/>
          </p:nvPr>
        </p:nvSpPr>
        <p:spPr>
          <a:xfrm>
            <a:off x="7124400" y="4827240"/>
            <a:ext cx="2935800" cy="65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cxnSp>
        <p:nvCxnSpPr>
          <p:cNvPr id="93" name="Straight Connector 18"/>
          <p:cNvCxnSpPr/>
          <p:nvPr/>
        </p:nvCxnSpPr>
        <p:spPr>
          <a:xfrm>
            <a:off x="3726000" y="2133360"/>
            <a:ext cx="360" cy="3962880"/>
          </a:xfrm>
          <a:prstGeom prst="straightConnector1">
            <a:avLst/>
          </a:prstGeom>
          <a:ln cap="rnd" w="12700">
            <a:solidFill>
              <a:schemeClr val="lt2">
                <a:lumMod val="40000"/>
                <a:lumOff val="60000"/>
                <a:alpha val="40000"/>
              </a:schemeClr>
            </a:solidFill>
            <a:round/>
          </a:ln>
        </p:spPr>
      </p:cxnSp>
      <p:cxnSp>
        <p:nvCxnSpPr>
          <p:cNvPr id="94" name="Straight Connector 19"/>
          <p:cNvCxnSpPr/>
          <p:nvPr/>
        </p:nvCxnSpPr>
        <p:spPr>
          <a:xfrm>
            <a:off x="6962040" y="2133360"/>
            <a:ext cx="360" cy="3967200"/>
          </a:xfrm>
          <a:prstGeom prst="straightConnector1">
            <a:avLst/>
          </a:prstGeom>
          <a:ln cap="rnd" w="12700">
            <a:solidFill>
              <a:schemeClr val="lt2">
                <a:lumMod val="40000"/>
                <a:lumOff val="60000"/>
                <a:alpha val="40000"/>
              </a:schemeClr>
            </a:solidFill>
            <a:round/>
          </a:ln>
        </p:spPr>
      </p:cxnSp>
      <p:sp>
        <p:nvSpPr>
          <p:cNvPr id="95" name="PlaceHolder 11"/>
          <p:cNvSpPr>
            <a:spLocks noGrp="1"/>
          </p:cNvSpPr>
          <p:nvPr>
            <p:ph type="dt" idx="19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96" name="PlaceHolder 12"/>
          <p:cNvSpPr>
            <a:spLocks noGrp="1"/>
          </p:cNvSpPr>
          <p:nvPr>
            <p:ph type="ftr" idx="20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97" name="PlaceHolder 13"/>
          <p:cNvSpPr>
            <a:spLocks noGrp="1"/>
          </p:cNvSpPr>
          <p:nvPr>
            <p:ph type="sldNum" idx="21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E5A541E1-D25D-4D18-8F88-D9CCF865A948}" type="slidenum">
              <a: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&lt;номер&gt;</a:t>
            </a:fld>
            <a:endParaRPr b="0" lang="ru-RU" sz="2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pic>
        <p:nvPicPr>
          <p:cNvPr id="101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4280" cy="140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42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b="0" lang="en-US" sz="4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1103400" y="2053080"/>
            <a:ext cx="8946360" cy="419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Второй уровень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Третий уровень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Четвертый уровень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Пятый уровень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dt" idx="22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ftr" idx="23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 type="sldNum" idx="24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1928385F-DECF-4C43-91FD-A239A247B7A5}" type="slidenum">
              <a: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&lt;номер&gt;</a:t>
            </a:fld>
            <a:endParaRPr b="0" lang="ru-RU" sz="2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pic>
        <p:nvPicPr>
          <p:cNvPr id="112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04120" y="430200"/>
            <a:ext cx="1752120" cy="582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vert="eaVer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42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b="0" lang="en-US" sz="4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52320" y="887400"/>
            <a:ext cx="7422840" cy="536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Второй уровень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Третий уровень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Четвертый уровень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Пятый уровень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dt" idx="25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ftr" idx="26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 type="sldNum" idx="27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59C13D97-98D5-4AAB-B327-A6C09AFDE53D}" type="slidenum">
              <a: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&lt;номер&gt;</a:t>
            </a:fld>
            <a:endParaRPr b="0" lang="ru-RU" sz="2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pic>
        <p:nvPicPr>
          <p:cNvPr id="123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4280" cy="140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42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b="0" lang="en-US" sz="4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1103400" y="2053080"/>
            <a:ext cx="8946360" cy="419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Второй уровень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Третий уровень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Четвертый уровень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Пятый уровень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dt" idx="28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ftr" idx="29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sldNum" idx="30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72FBBC80-D8A7-44B7-9410-CA7AA3AF7F9A}" type="slidenum">
              <a: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&lt;номер&gt;</a:t>
            </a:fld>
            <a:endParaRPr b="0" lang="ru-RU" sz="2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pic>
        <p:nvPicPr>
          <p:cNvPr id="134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154880" y="2861640"/>
            <a:ext cx="8825400" cy="191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4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b="0" lang="en-US" sz="40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1154880" y="4777560"/>
            <a:ext cx="8825400" cy="86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trike="noStrike" u="none" cap="all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dt" idx="31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ftr" idx="32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41" name="PlaceHolder 5"/>
          <p:cNvSpPr>
            <a:spLocks noGrp="1"/>
          </p:cNvSpPr>
          <p:nvPr>
            <p:ph type="sldNum" idx="33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CE6BA9E3-7ECB-41B0-8492-556ED33187DE}" type="slidenum">
              <a: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&lt;номер&gt;</a:t>
            </a:fld>
            <a:endParaRPr b="0" lang="ru-RU" sz="2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pic>
        <p:nvPicPr>
          <p:cNvPr id="145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4280" cy="140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42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b="0" lang="en-US" sz="4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1103400" y="2060640"/>
            <a:ext cx="4395960" cy="419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Второй уровень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Третий уровень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2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Четвертый уровень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2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Пятый уровень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5654520" y="2055960"/>
            <a:ext cx="4395960" cy="41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Второй уровень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Третий уровень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2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Четвертый уровень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2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Пятый уровень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dt" idx="34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ftr" idx="35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53" name="PlaceHolder 6"/>
          <p:cNvSpPr>
            <a:spLocks noGrp="1"/>
          </p:cNvSpPr>
          <p:nvPr>
            <p:ph type="sldNum" idx="36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E1B08628-4C64-4FC9-BFFE-4335FF710C8A}" type="slidenum">
              <a: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&lt;номер&gt;</a:t>
            </a:fld>
            <a:endParaRPr b="0" lang="ru-RU" sz="2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pic>
        <p:nvPicPr>
          <p:cNvPr id="157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4280" cy="140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42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b="0" lang="en-US" sz="4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1103400" y="1905120"/>
            <a:ext cx="439596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body"/>
          </p:nvPr>
        </p:nvSpPr>
        <p:spPr>
          <a:xfrm>
            <a:off x="1103400" y="2514600"/>
            <a:ext cx="4395960" cy="374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Второй уровень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Третий уровень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2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Четвертый уровень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2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Пятый уровень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 type="body"/>
          </p:nvPr>
        </p:nvSpPr>
        <p:spPr>
          <a:xfrm>
            <a:off x="5654520" y="1905120"/>
            <a:ext cx="439596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 type="body"/>
          </p:nvPr>
        </p:nvSpPr>
        <p:spPr>
          <a:xfrm>
            <a:off x="5654520" y="2514600"/>
            <a:ext cx="4395960" cy="374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Второй уровень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Третий уровень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2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Четвертый уровень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2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Пятый уровень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65" name="PlaceHolder 6"/>
          <p:cNvSpPr>
            <a:spLocks noGrp="1"/>
          </p:cNvSpPr>
          <p:nvPr>
            <p:ph type="dt" idx="37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66" name="PlaceHolder 7"/>
          <p:cNvSpPr>
            <a:spLocks noGrp="1"/>
          </p:cNvSpPr>
          <p:nvPr>
            <p:ph type="ftr" idx="38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67" name="PlaceHolder 8"/>
          <p:cNvSpPr>
            <a:spLocks noGrp="1"/>
          </p:cNvSpPr>
          <p:nvPr>
            <p:ph type="sldNum" idx="39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C258CA36-9421-4278-ADF9-0D1496F4AA02}" type="slidenum">
              <a: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&lt;номер&gt;</a:t>
            </a:fld>
            <a:endParaRPr b="0" lang="ru-RU" sz="2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pic>
        <p:nvPicPr>
          <p:cNvPr id="171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4280" cy="140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42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b="0" lang="en-US" sz="4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dt" idx="40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ftr" idx="41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sldNum" idx="42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40BE6D41-0E3E-4282-82B4-606A32648E03}" type="slidenum">
              <a: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&lt;номер&gt;</a:t>
            </a:fld>
            <a:endParaRPr b="0" lang="ru-RU" sz="2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pic>
        <p:nvPicPr>
          <p:cNvPr id="181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84" name="PlaceHolder 1"/>
          <p:cNvSpPr>
            <a:spLocks noGrp="1"/>
          </p:cNvSpPr>
          <p:nvPr>
            <p:ph type="dt" idx="43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ftr" idx="44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45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7912E5B6-1CA6-4547-AE40-A61FDDA66761}" type="slidenum">
              <a: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&lt;номер&gt;</a:t>
            </a:fld>
            <a:endParaRPr b="0" lang="ru-RU" sz="2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pic>
        <p:nvPicPr>
          <p:cNvPr id="190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1154880" y="1447920"/>
            <a:ext cx="3400560" cy="14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24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4784760" y="1447920"/>
            <a:ext cx="5195520" cy="457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Второй уровень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Третий уровень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Четвертый уровень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Пятый уровень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body"/>
          </p:nvPr>
        </p:nvSpPr>
        <p:spPr>
          <a:xfrm>
            <a:off x="1154880" y="3129120"/>
            <a:ext cx="3400560" cy="289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dt" idx="46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 type="ftr" idx="47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98" name="PlaceHolder 6"/>
          <p:cNvSpPr>
            <a:spLocks noGrp="1"/>
          </p:cNvSpPr>
          <p:nvPr>
            <p:ph type="sldNum" idx="48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ACAC4C76-0BE5-4C51-825F-506CF46F859E}" type="slidenum">
              <a: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&lt;номер&gt;</a:t>
            </a:fld>
            <a:endParaRPr b="0" lang="ru-RU" sz="2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pic>
        <p:nvPicPr>
          <p:cNvPr id="202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3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1153800" y="1854360"/>
            <a:ext cx="5092560" cy="157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ru-RU" sz="36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b="0" lang="en-US" sz="3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949440" y="1143000"/>
            <a:ext cx="3200040" cy="4571640"/>
          </a:xfrm>
          <a:prstGeom prst="rect">
            <a:avLst/>
          </a:prstGeom>
          <a:noFill/>
          <a:ln w="0">
            <a:noFill/>
          </a:ln>
          <a:effectLst>
            <a:outerShdw dist="50760" dir="5400000" blurRad="50760" rotWithShape="0">
              <a:srgbClr val="000000">
                <a:alpha val="43000"/>
              </a:srgbClr>
            </a:outerShdw>
          </a:effectLst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Вставка рисунка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1154880" y="3657600"/>
            <a:ext cx="508464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Образец текста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dt" idx="49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ru-RU" sz="1100" strike="noStrike" u="none">
                <a:solidFill>
                  <a:schemeClr val="lt1">
                    <a:tint val="75000"/>
                    <a:alpha val="60000"/>
                  </a:schemeClr>
                </a:solidFill>
                <a:effectLst/>
                <a:uFillTx/>
                <a:latin typeface="Century Gothic"/>
              </a:rPr>
              <a:t>&lt;дата/время&gt;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209" name="PlaceHolder 5"/>
          <p:cNvSpPr>
            <a:spLocks noGrp="1"/>
          </p:cNvSpPr>
          <p:nvPr>
            <p:ph type="ftr" idx="50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Noto Serif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210" name="PlaceHolder 6"/>
          <p:cNvSpPr>
            <a:spLocks noGrp="1"/>
          </p:cNvSpPr>
          <p:nvPr>
            <p:ph type="sldNum" idx="51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7D5134DD-7402-40D6-924C-FBF2F2CE65BE}" type="slidenum">
              <a:rPr b="0" lang="ru-RU" sz="28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Century Gothic"/>
              </a:rPr>
              <a:t>&lt;номер&gt;</a:t>
            </a:fld>
            <a:endParaRPr b="0" lang="ru-RU" sz="2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1683000" y="1764360"/>
            <a:ext cx="8825400" cy="332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ru-RU" sz="72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Проект   телеграм-бота «</a:t>
            </a:r>
            <a:r>
              <a:rPr b="1" lang="en-US" sz="72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HabitQuest</a:t>
            </a:r>
            <a:r>
              <a:rPr b="1" lang="ru-RU" sz="72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»</a:t>
            </a:r>
            <a:endParaRPr b="0" lang="en-US" sz="7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subTitle"/>
          </p:nvPr>
        </p:nvSpPr>
        <p:spPr>
          <a:xfrm>
            <a:off x="9003600" y="5638680"/>
            <a:ext cx="2873880" cy="86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trike="noStrike" u="none" cap="all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Коньков максим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trike="noStrike" u="none" cap="all">
                <a:solidFill>
                  <a:schemeClr val="dk2">
                    <a:lumMod val="40000"/>
                    <a:lumOff val="60000"/>
                  </a:schemeClr>
                </a:solidFill>
                <a:effectLst/>
                <a:uFillTx/>
                <a:latin typeface="Century Gothic"/>
              </a:rPr>
              <a:t>Икпи-33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994680" y="914400"/>
            <a:ext cx="5101200" cy="65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7000"/>
              </a:lnSpc>
              <a:spcAft>
                <a:spcPts val="799"/>
              </a:spcAft>
              <a:buNone/>
            </a:pPr>
            <a:r>
              <a:rPr b="1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20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20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Миссия:</a:t>
            </a:r>
            <a:br>
              <a:rPr sz="1800"/>
            </a:br>
            <a:br>
              <a:rPr sz="1800"/>
            </a:br>
            <a:r>
              <a:rPr b="1" lang="en-US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HabitQuest</a:t>
            </a:r>
            <a:r>
              <a:rPr b="0" lang="en-US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 </a:t>
            </a:r>
            <a:r>
              <a:rPr b="0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— это персонализированный помощник в вопросе формирования полезных привычек, который сделает ЗОЖ – увлекательной игрой. Этот бот подберёт подходящую тренировку, выведет статистику сна, а также сможет дать советы по сну и тренировкам. Благодарю нему вы станете здоровее, ведь ваши сон и физическое состояние улучшатся.  Получится это благодаря игровой форме, которая будет мотивировать баллами.</a:t>
            </a:r>
            <a:br>
              <a:rPr sz="1800"/>
            </a:br>
            <a:br>
              <a:rPr sz="1800"/>
            </a:br>
            <a:endParaRPr b="0" lang="en-US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pic>
        <p:nvPicPr>
          <p:cNvPr id="214" name="Рисунок 4" descr=""/>
          <p:cNvPicPr/>
          <p:nvPr/>
        </p:nvPicPr>
        <p:blipFill>
          <a:blip r:embed="rId1"/>
          <a:stretch/>
        </p:blipFill>
        <p:spPr>
          <a:xfrm>
            <a:off x="6447600" y="1448280"/>
            <a:ext cx="5249880" cy="3961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914400" y="1017000"/>
            <a:ext cx="4026240" cy="446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7000"/>
              </a:lnSpc>
              <a:spcAft>
                <a:spcPts val="799"/>
              </a:spcAft>
              <a:buNone/>
            </a:pPr>
            <a:r>
              <a:rPr b="1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  </a:t>
            </a:r>
            <a:r>
              <a:rPr b="1" lang="ru-RU" sz="20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Цель:</a:t>
            </a:r>
            <a:br>
              <a:rPr sz="1800"/>
            </a:br>
            <a:br>
              <a:rPr sz="1800"/>
            </a:br>
            <a:r>
              <a:rPr b="0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Разработать Telegram-бота с геймифицированной системой формирования здоровых привычек, включающего:</a:t>
            </a:r>
            <a:br>
              <a:rPr sz="1800"/>
            </a:br>
            <a:r>
              <a:rPr b="0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Calibri"/>
              </a:rPr>
              <a:t>- </a:t>
            </a:r>
            <a:r>
              <a:rPr b="0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Трекер сна с аналитикой</a:t>
            </a:r>
            <a:br>
              <a:rPr sz="1800"/>
            </a:br>
            <a:r>
              <a:rPr b="0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Calibri"/>
              </a:rPr>
              <a:t>- </a:t>
            </a:r>
            <a:r>
              <a:rPr b="0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Тренировочный ассистент</a:t>
            </a:r>
            <a:br>
              <a:rPr sz="1800"/>
            </a:br>
            <a:r>
              <a:rPr b="0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Calibri"/>
              </a:rPr>
              <a:t>- </a:t>
            </a:r>
            <a:r>
              <a:rPr b="0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Мотивационную систему баллов</a:t>
            </a:r>
            <a:br>
              <a:rPr sz="1800"/>
            </a:br>
            <a:endParaRPr b="0" lang="en-US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16" name="TextBox 4"/>
          <p:cNvSpPr/>
          <p:nvPr/>
        </p:nvSpPr>
        <p:spPr>
          <a:xfrm>
            <a:off x="5358240" y="1017000"/>
            <a:ext cx="6095520" cy="539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7000"/>
              </a:lnSpc>
              <a:spcAft>
                <a:spcPts val="799"/>
              </a:spcAft>
            </a:pPr>
            <a:r>
              <a:rPr b="1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20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Задачи: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7000"/>
              </a:lnSpc>
              <a:spcAft>
                <a:spcPts val="799"/>
              </a:spcAft>
            </a:pPr>
            <a:endParaRPr b="0" lang="ru-RU" sz="16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7000"/>
              </a:lnSpc>
              <a:spcAft>
                <a:spcPts val="799"/>
              </a:spcAft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Если декомпозировать цель на подцели (задачи), то получится следующая картина: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7000"/>
              </a:lnSpc>
              <a:buClr>
                <a:srgbClr val="ffffff"/>
              </a:buClr>
              <a:buFont typeface="Century Gothic"/>
              <a:buAutoNum type="arabicPeriod"/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Необходимо определить и прописать основную </a:t>
            </a:r>
            <a:r>
              <a:rPr b="1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логику бота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7000"/>
              </a:lnSpc>
              <a:buClr>
                <a:srgbClr val="ffffff"/>
              </a:buClr>
              <a:buFont typeface="Century Gothic"/>
              <a:buAutoNum type="arabicPeriod"/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Далее </a:t>
            </a:r>
            <a:r>
              <a:rPr b="1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интегрировать системы трекинга сна и помощи в тренировках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7000"/>
              </a:lnSpc>
              <a:buClr>
                <a:srgbClr val="ffffff"/>
              </a:buClr>
              <a:buFont typeface="Century Gothic"/>
              <a:buAutoNum type="arabicPeriod"/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После необходимо </a:t>
            </a:r>
            <a:r>
              <a:rPr b="1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ввести систему баллов и сбора статистики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7000"/>
              </a:lnSpc>
              <a:buClr>
                <a:srgbClr val="ffffff"/>
              </a:buClr>
              <a:buFont typeface="Century Gothic"/>
              <a:buAutoNum type="arabicPeriod"/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По завершении написания кодовой базы, </a:t>
            </a:r>
            <a:r>
              <a:rPr b="1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нужно протестировать и отладить бота</a:t>
            </a: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 для минимизации потенциальных ошибок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7000"/>
              </a:lnSpc>
              <a:spcAft>
                <a:spcPts val="799"/>
              </a:spcAft>
              <a:buClr>
                <a:srgbClr val="ffffff"/>
              </a:buClr>
              <a:buFont typeface="Century Gothic"/>
              <a:buAutoNum type="arabicPeriod"/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В конце </a:t>
            </a:r>
            <a:r>
              <a:rPr b="1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необходимо развернуть готовый продукт и попробовать использовать его на 3-х независимых устройствах</a:t>
            </a: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 в качестве метрики успеха проекта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3060000" y="720000"/>
            <a:ext cx="6511320" cy="53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ru-RU" sz="2400" strike="noStrike" u="none">
                <a:solidFill>
                  <a:schemeClr val="lt2"/>
                </a:solidFill>
                <a:effectLst/>
                <a:uFillTx/>
                <a:latin typeface="Arial Black"/>
              </a:rPr>
              <a:t>Конкуренты и инновационность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pic>
        <p:nvPicPr>
          <p:cNvPr id="218" name="Рисунок 4" descr=""/>
          <p:cNvPicPr/>
          <p:nvPr/>
        </p:nvPicPr>
        <p:blipFill>
          <a:blip r:embed="rId1"/>
          <a:stretch/>
        </p:blipFill>
        <p:spPr>
          <a:xfrm>
            <a:off x="1652400" y="1782720"/>
            <a:ext cx="3031560" cy="303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TextBox 6"/>
          <p:cNvSpPr/>
          <p:nvPr/>
        </p:nvSpPr>
        <p:spPr>
          <a:xfrm>
            <a:off x="7492680" y="4814280"/>
            <a:ext cx="609300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000" strike="noStrike" u="none">
                <a:solidFill>
                  <a:schemeClr val="lt1"/>
                </a:solidFill>
                <a:effectLst/>
                <a:uFillTx/>
                <a:latin typeface="Arial Black"/>
              </a:rPr>
              <a:t>@AI_FitCoachBot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pic>
        <p:nvPicPr>
          <p:cNvPr id="220" name="Рисунок 8" descr=""/>
          <p:cNvPicPr/>
          <p:nvPr/>
        </p:nvPicPr>
        <p:blipFill>
          <a:blip r:embed="rId2"/>
          <a:stretch/>
        </p:blipFill>
        <p:spPr>
          <a:xfrm>
            <a:off x="7224120" y="1786320"/>
            <a:ext cx="3031560" cy="303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" name="TextBox 12"/>
          <p:cNvSpPr/>
          <p:nvPr/>
        </p:nvSpPr>
        <p:spPr>
          <a:xfrm>
            <a:off x="2175480" y="4814280"/>
            <a:ext cx="687348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000" strike="noStrike" u="none">
                <a:solidFill>
                  <a:schemeClr val="lt1"/>
                </a:solidFill>
                <a:effectLst/>
                <a:uFillTx/>
                <a:latin typeface="Arial Black"/>
              </a:rPr>
              <a:t>@sleepyrobot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1440000" y="180000"/>
            <a:ext cx="9853920" cy="234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7000"/>
              </a:lnSpc>
              <a:spcAft>
                <a:spcPts val="799"/>
              </a:spcAft>
              <a:buNone/>
            </a:pPr>
            <a:r>
              <a:rPr b="1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20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SMART-критерии:</a:t>
            </a:r>
            <a:br>
              <a:rPr sz="1800"/>
            </a:br>
            <a:r>
              <a:rPr b="0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Calibri"/>
              </a:rPr>
              <a:t>- </a:t>
            </a:r>
            <a:r>
              <a:rPr b="1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Конкретная</a:t>
            </a:r>
            <a:r>
              <a:rPr b="0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: Реализация 3 модулей (сон, тренировки, геймификация)</a:t>
            </a:r>
            <a:br>
              <a:rPr sz="1800"/>
            </a:br>
            <a:r>
              <a:rPr b="0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Calibri"/>
              </a:rPr>
              <a:t>- </a:t>
            </a:r>
            <a:r>
              <a:rPr b="1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Измеримая</a:t>
            </a:r>
            <a:r>
              <a:rPr b="0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: Работа на 3+ устройствах</a:t>
            </a:r>
            <a:br>
              <a:rPr sz="1800"/>
            </a:br>
            <a:r>
              <a:rPr b="0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Calibri"/>
              </a:rPr>
              <a:t>- </a:t>
            </a:r>
            <a:r>
              <a:rPr b="1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Достижимая</a:t>
            </a:r>
            <a:r>
              <a:rPr b="0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: Использование Python + готовых библиотек</a:t>
            </a:r>
            <a:br>
              <a:rPr sz="1800"/>
            </a:br>
            <a:r>
              <a:rPr b="0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Calibri"/>
              </a:rPr>
              <a:t>- </a:t>
            </a:r>
            <a:r>
              <a:rPr b="1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Релевантная</a:t>
            </a:r>
            <a:r>
              <a:rPr b="0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: Решение проблемы низкой мотивации к ЗОЖ</a:t>
            </a:r>
            <a:br>
              <a:rPr sz="1800"/>
            </a:br>
            <a:r>
              <a:rPr b="0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Calibri"/>
              </a:rPr>
              <a:t>- </a:t>
            </a:r>
            <a:r>
              <a:rPr b="1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Ограниченная по времени</a:t>
            </a:r>
            <a:r>
              <a:rPr b="0" lang="ru-RU" sz="1800" strike="noStrike" u="none">
                <a:solidFill>
                  <a:schemeClr val="lt2"/>
                </a:solidFill>
                <a:effectLst/>
                <a:uFillTx/>
                <a:latin typeface="Arial Black"/>
                <a:ea typeface="Times New Roman"/>
              </a:rPr>
              <a:t>: 8 недель разработки</a:t>
            </a:r>
            <a:br>
              <a:rPr sz="1800"/>
            </a:br>
            <a:endParaRPr b="0" lang="en-US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pic>
        <p:nvPicPr>
          <p:cNvPr id="223" name="Рисунок 4" descr=""/>
          <p:cNvPicPr/>
          <p:nvPr/>
        </p:nvPicPr>
        <p:blipFill>
          <a:blip r:embed="rId1"/>
          <a:stretch/>
        </p:blipFill>
        <p:spPr>
          <a:xfrm>
            <a:off x="1154880" y="2662920"/>
            <a:ext cx="9576720" cy="377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4381560" y="701640"/>
            <a:ext cx="3428280" cy="49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ru-RU" sz="2000" strike="noStrike" u="none">
                <a:solidFill>
                  <a:schemeClr val="lt2"/>
                </a:solidFill>
                <a:effectLst/>
                <a:uFillTx/>
                <a:latin typeface="Arial Black"/>
              </a:rPr>
              <a:t>Треугольник проекта:</a:t>
            </a:r>
            <a:endParaRPr b="1" lang="en-US" sz="20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pic>
        <p:nvPicPr>
          <p:cNvPr id="225" name="Рисунок 10" descr=""/>
          <p:cNvPicPr/>
          <p:nvPr/>
        </p:nvPicPr>
        <p:blipFill>
          <a:blip r:embed="rId1"/>
          <a:stretch/>
        </p:blipFill>
        <p:spPr>
          <a:xfrm>
            <a:off x="2635920" y="1264680"/>
            <a:ext cx="6919560" cy="4891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4742280" y="877680"/>
            <a:ext cx="2959560" cy="43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ru-RU" sz="2000" strike="noStrike" u="none">
                <a:solidFill>
                  <a:schemeClr val="lt2"/>
                </a:solidFill>
                <a:effectLst/>
                <a:uFillTx/>
                <a:latin typeface="Arial Black"/>
              </a:rPr>
              <a:t>Дерево проекта:</a:t>
            </a:r>
            <a:endParaRPr b="1" lang="en-US" sz="20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pic>
        <p:nvPicPr>
          <p:cNvPr id="227" name="Рисунок 9" descr=""/>
          <p:cNvPicPr/>
          <p:nvPr/>
        </p:nvPicPr>
        <p:blipFill>
          <a:blip r:embed="rId1"/>
          <a:stretch/>
        </p:blipFill>
        <p:spPr>
          <a:xfrm>
            <a:off x="604080" y="1761840"/>
            <a:ext cx="10983600" cy="4218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Box 6"/>
          <p:cNvSpPr/>
          <p:nvPr/>
        </p:nvSpPr>
        <p:spPr>
          <a:xfrm>
            <a:off x="3048120" y="540360"/>
            <a:ext cx="609552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ru-RU" sz="20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График Ганта: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pic>
        <p:nvPicPr>
          <p:cNvPr id="229" name="Рисунок 4" descr=""/>
          <p:cNvPicPr/>
          <p:nvPr/>
        </p:nvPicPr>
        <p:blipFill>
          <a:blip r:embed="rId1"/>
          <a:stretch/>
        </p:blipFill>
        <p:spPr>
          <a:xfrm>
            <a:off x="775800" y="1132920"/>
            <a:ext cx="10639800" cy="5288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Box 4"/>
          <p:cNvSpPr/>
          <p:nvPr/>
        </p:nvSpPr>
        <p:spPr>
          <a:xfrm>
            <a:off x="740520" y="435240"/>
            <a:ext cx="11451240" cy="598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7000"/>
              </a:lnSpc>
              <a:spcAft>
                <a:spcPts val="799"/>
              </a:spcAft>
            </a:pPr>
            <a:r>
              <a:rPr b="1" lang="ru-RU" sz="20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20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20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20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20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20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20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20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20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	</a:t>
            </a:r>
            <a:r>
              <a:rPr b="1" lang="ru-RU" sz="20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Основные функции: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7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b="1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Трекер сна сможет: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lvl="1" marL="743040" indent="-285840" defTabSz="457200">
              <a:lnSpc>
                <a:spcPct val="107000"/>
              </a:lnSpc>
              <a:spcAft>
                <a:spcPts val="799"/>
              </a:spcAft>
              <a:buClr>
                <a:srgbClr val="ffffff"/>
              </a:buClr>
              <a:buFont typeface="Courier New"/>
              <a:buChar char="o"/>
              <a:tabLst>
                <a:tab algn="l" pos="914400"/>
              </a:tabLst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Присылать напоминания об отходе ко сну и по пробуждении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lvl="1" marL="743040" indent="-285840" defTabSz="457200">
              <a:lnSpc>
                <a:spcPct val="107000"/>
              </a:lnSpc>
              <a:spcAft>
                <a:spcPts val="799"/>
              </a:spcAft>
              <a:buClr>
                <a:srgbClr val="ffffff"/>
              </a:buClr>
              <a:buFont typeface="Courier New"/>
              <a:buChar char="o"/>
              <a:tabLst>
                <a:tab algn="l" pos="914400"/>
              </a:tabLst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Визуализировать данные о сне в виде графиков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lvl="1" marL="743040" indent="-285840" defTabSz="457200">
              <a:lnSpc>
                <a:spcPct val="107000"/>
              </a:lnSpc>
              <a:spcAft>
                <a:spcPts val="799"/>
              </a:spcAft>
              <a:buClr>
                <a:srgbClr val="ffffff"/>
              </a:buClr>
              <a:buFont typeface="Courier New"/>
              <a:buChar char="o"/>
              <a:tabLst>
                <a:tab algn="l" pos="914400"/>
              </a:tabLst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Сможет давать персонализированные советы для улучшения сна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7000"/>
              </a:lnSpc>
              <a:spcAft>
                <a:spcPts val="799"/>
              </a:spcAft>
              <a:tabLst>
                <a:tab algn="l" pos="914400"/>
              </a:tabLst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 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7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b="1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Тренировочный ассистент поможет: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lvl="1" marL="743040" indent="-285840" defTabSz="457200">
              <a:lnSpc>
                <a:spcPct val="107000"/>
              </a:lnSpc>
              <a:spcAft>
                <a:spcPts val="799"/>
              </a:spcAft>
              <a:buClr>
                <a:srgbClr val="ffffff"/>
              </a:buClr>
              <a:buFont typeface="Courier New"/>
              <a:buChar char="o"/>
              <a:tabLst>
                <a:tab algn="l" pos="914400"/>
              </a:tabLst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Сгенерировать тренировки по выбранным группам мышц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lvl="1" marL="743040" indent="-285840" defTabSz="457200">
              <a:lnSpc>
                <a:spcPct val="107000"/>
              </a:lnSpc>
              <a:spcAft>
                <a:spcPts val="799"/>
              </a:spcAft>
              <a:buClr>
                <a:srgbClr val="ffffff"/>
              </a:buClr>
              <a:buFont typeface="Courier New"/>
              <a:buChar char="o"/>
              <a:tabLst>
                <a:tab algn="l" pos="914400"/>
              </a:tabLst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Можно выбирать интенсивность тренировки (восстанов., интенсивная)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lvl="1" marL="743040" indent="-285840" defTabSz="457200">
              <a:lnSpc>
                <a:spcPct val="107000"/>
              </a:lnSpc>
              <a:spcAft>
                <a:spcPts val="799"/>
              </a:spcAft>
              <a:buClr>
                <a:srgbClr val="ffffff"/>
              </a:buClr>
              <a:buFont typeface="Courier New"/>
              <a:buChar char="o"/>
              <a:tabLst>
                <a:tab algn="l" pos="914400"/>
              </a:tabLst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Будет предлагать упражнения и присылать видео по технике их выполнения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lvl="1" marL="743040" indent="-285840" defTabSz="457200">
              <a:lnSpc>
                <a:spcPct val="107000"/>
              </a:lnSpc>
              <a:spcAft>
                <a:spcPts val="799"/>
              </a:spcAft>
              <a:buClr>
                <a:srgbClr val="ffffff"/>
              </a:buClr>
              <a:buFont typeface="Courier New"/>
              <a:buChar char="o"/>
              <a:tabLst>
                <a:tab algn="l" pos="914400"/>
              </a:tabLst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Будет мотивировать человека и давать советы по тренировке и отдыху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  <a:tabLst>
                <a:tab algn="l" pos="914400"/>
              </a:tabLst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 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b="1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Система баллов, начисляющая баллы за: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ffffff"/>
              </a:buClr>
              <a:buFont typeface="Courier New"/>
              <a:buChar char="o"/>
              <a:tabLst>
                <a:tab algn="l" pos="914400"/>
              </a:tabLst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Соблюдение режима сна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ffffff"/>
              </a:buClr>
              <a:buFont typeface="Courier New"/>
              <a:buChar char="o"/>
              <a:tabLst>
                <a:tab algn="l" pos="914400"/>
              </a:tabLst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Выполнение тренировок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ffffff"/>
              </a:buClr>
              <a:buFont typeface="Courier New"/>
              <a:buChar char="o"/>
              <a:tabLst>
                <a:tab algn="l" pos="914400"/>
              </a:tabLst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Перевыполнение нормы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Рисунок 4" descr=""/>
          <p:cNvPicPr/>
          <p:nvPr/>
        </p:nvPicPr>
        <p:blipFill>
          <a:blip r:embed="rId1"/>
          <a:stretch/>
        </p:blipFill>
        <p:spPr>
          <a:xfrm>
            <a:off x="6345000" y="849600"/>
            <a:ext cx="5381640" cy="536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extBox 10"/>
          <p:cNvSpPr/>
          <p:nvPr/>
        </p:nvSpPr>
        <p:spPr>
          <a:xfrm>
            <a:off x="548640" y="1147320"/>
            <a:ext cx="5796000" cy="65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7000"/>
              </a:lnSpc>
              <a:spcAft>
                <a:spcPts val="799"/>
              </a:spcAft>
            </a:pPr>
            <a:r>
              <a:rPr b="1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Состав команды: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7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Разработчик: 1 человек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7000"/>
              </a:lnSpc>
              <a:spcAft>
                <a:spcPts val="799"/>
              </a:spcAft>
              <a:tabLst>
                <a:tab algn="l" pos="45720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7000"/>
              </a:lnSpc>
              <a:spcAft>
                <a:spcPts val="799"/>
              </a:spcAft>
              <a:tabLst>
                <a:tab algn="l" pos="457200"/>
              </a:tabLst>
            </a:pPr>
            <a:r>
              <a:rPr b="1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Ресурсы: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7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Временные: 15-20 часов в неделю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7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Финансовые: ~200 руб./мес. на хостинг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7000"/>
              </a:lnSpc>
              <a:spcAft>
                <a:spcPts val="799"/>
              </a:spcAft>
              <a:tabLst>
                <a:tab algn="l" pos="45720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7000"/>
              </a:lnSpc>
              <a:spcAft>
                <a:spcPts val="799"/>
              </a:spcAft>
              <a:tabLst>
                <a:tab algn="l" pos="457200"/>
              </a:tabLst>
            </a:pPr>
            <a:r>
              <a:rPr b="1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Технологический стек:</a:t>
            </a: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 </a:t>
            </a: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Python</a:t>
            </a: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, </a:t>
            </a: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Aiogram</a:t>
            </a: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, </a:t>
            </a: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SQLite</a:t>
            </a: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, </a:t>
            </a: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RuVDS</a:t>
            </a: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.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7000"/>
              </a:lnSpc>
              <a:spcAft>
                <a:spcPts val="799"/>
              </a:spcAft>
              <a:tabLst>
                <a:tab algn="l" pos="45720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7000"/>
              </a:lnSpc>
              <a:spcAft>
                <a:spcPts val="799"/>
              </a:spcAft>
              <a:tabLst>
                <a:tab algn="l" pos="457200"/>
              </a:tabLst>
            </a:pPr>
            <a:r>
              <a:rPr b="1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Общий срок</a:t>
            </a: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 Black"/>
                <a:ea typeface="Times New Roman"/>
              </a:rPr>
              <a:t>: 8 недель (56 дней) от старта до рабочего прототипа.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7000"/>
              </a:lnSpc>
              <a:spcAft>
                <a:spcPts val="799"/>
              </a:spcAft>
              <a:tabLst>
                <a:tab algn="l" pos="45720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7000"/>
              </a:lnSpc>
              <a:spcAft>
                <a:spcPts val="799"/>
              </a:spcAft>
              <a:tabLst>
                <a:tab algn="l" pos="45720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7000"/>
              </a:lnSpc>
              <a:spcAft>
                <a:spcPts val="799"/>
              </a:spcAft>
              <a:tabLst>
                <a:tab algn="l" pos="45720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7000"/>
              </a:lnSpc>
              <a:spcAft>
                <a:spcPts val="799"/>
              </a:spcAft>
              <a:tabLst>
                <a:tab algn="l" pos="45720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7000"/>
              </a:lnSpc>
              <a:spcAft>
                <a:spcPts val="799"/>
              </a:spcAft>
              <a:tabLst>
                <a:tab algn="l" pos="45720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233" name="TextBox 6"/>
          <p:cNvSpPr/>
          <p:nvPr/>
        </p:nvSpPr>
        <p:spPr>
          <a:xfrm>
            <a:off x="3298320" y="288000"/>
            <a:ext cx="609300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000" strike="noStrike" u="none">
                <a:solidFill>
                  <a:schemeClr val="lt1"/>
                </a:solidFill>
                <a:effectLst/>
                <a:uFillTx/>
                <a:latin typeface="Arial Black"/>
              </a:rPr>
              <a:t>Состав, ресурсы, технологии и сроки: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2550600" y="2339640"/>
            <a:ext cx="7090200" cy="217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ru-RU" sz="7200" strike="noStrike" u="none">
                <a:solidFill>
                  <a:schemeClr val="lt2"/>
                </a:solidFill>
                <a:effectLst/>
                <a:uFillTx/>
                <a:latin typeface="Arial Black"/>
              </a:rPr>
              <a:t>Спасибо за внимание!</a:t>
            </a:r>
            <a:endParaRPr b="0" lang="en-US" sz="7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Ион">
  <a:themeElements>
    <a:clrScheme name="Ион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332</TotalTime>
  <Application>LibreOffice/25.2.2.2$Linux_X86_64 LibreOffice_project/520$Build-2</Application>
  <AppVersion>15.0000</AppVersion>
  <Words>436</Words>
  <Paragraphs>51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2025-03-29T03:06:52Z</dcterms:created>
  <dc:creator>Максим Коньков</dc:creator>
  <dc:description/>
  <dc:language>ru-RU</dc:language>
  <cp:lastModifiedBy/>
  <dcterms:modified xsi:type="dcterms:W3CDTF">2025-04-26T10:40:59Z</dcterms:modified>
  <cp:revision>57</cp:revision>
  <dc:subject/>
  <dc:title>Проект телеграм-бота HabitQuest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11</vt:i4>
  </property>
</Properties>
</file>